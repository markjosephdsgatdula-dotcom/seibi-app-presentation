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2563EB"/>
                </a:solidFill>
                <a:latin typeface="Noto Sans JP"/>
              </a:defRPr>
            </a:pPr>
            <a:r>
              <a:t>現場改善プロジェクト報告</a:t>
            </a:r>
          </a:p>
          <a:p>
            <a:pPr>
              <a:spcAft>
                <a:spcPts val="1000"/>
              </a:spcAft>
              <a:defRPr sz="6400" b="1">
                <a:solidFill>
                  <a:srgbClr val="2563EB"/>
                </a:solidFill>
                <a:latin typeface="Noto Sans JP"/>
              </a:defRPr>
            </a:pPr>
            <a:r>
              <a:t>Seibi</a:t>
            </a:r>
          </a:p>
          <a:p>
            <a:pPr>
              <a:spcAft>
                <a:spcPts val="3000"/>
              </a:spcAft>
              <a:defRPr sz="2600" b="1">
                <a:solidFill>
                  <a:srgbClr val="0F172A"/>
                </a:solidFill>
                <a:latin typeface="Noto Sans JP"/>
              </a:defRPr>
            </a:pPr>
            <a:r>
              <a:t>点検のデジタル化からAIによる修理サポートまで</a:t>
            </a:r>
          </a:p>
          <a:p>
            <a:pPr>
              <a:defRPr sz="1800">
                <a:solidFill>
                  <a:srgbClr val="475569"/>
                </a:solidFill>
                <a:latin typeface="Noto Sans JP"/>
              </a:defRPr>
            </a:pPr>
            <a:r>
              <a:t>溶接ラインチーム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Noto Sans JP"/>
              </a:defRPr>
            </a:pPr>
            <a:r>
              <a:t>背景と課題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Noto Sans JP"/>
              </a:defRPr>
            </a:pPr>
            <a:r>
              <a:t>紙の点検表運用による3つの現場課題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011680"/>
            <a:ext cx="332841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563EB"/>
                </a:solidFill>
                <a:latin typeface="Noto Sans JP"/>
              </a:defRPr>
            </a:pPr>
            <a:r>
              <a:t>📁 履歴の散逸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88536" y="2011680"/>
            <a:ext cx="332841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563EB"/>
                </a:solidFill>
                <a:latin typeface="Noto Sans JP"/>
              </a:defRPr>
            </a:pPr>
            <a:r>
              <a:t>🔄 追跡の困難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1271" y="2011680"/>
            <a:ext cx="332841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563EB"/>
                </a:solidFill>
                <a:latin typeface="Noto Sans JP"/>
              </a:defRPr>
            </a:pPr>
            <a:r>
              <a:t>📖 作業の非効率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Noto Sans JP"/>
              </a:defRPr>
            </a:pPr>
            <a:r>
              <a:t>解決策と取り組み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Noto Sans JP"/>
              </a:defRPr>
            </a:pPr>
            <a:r>
              <a:t>4つの主要機能で現場の課題を解決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1828800"/>
            <a:ext cx="76196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2200" b="1">
                <a:solidFill>
                  <a:srgbClr val="0F172A"/>
                </a:solidFill>
                <a:latin typeface="Noto Sans JP"/>
              </a:defRPr>
            </a:pPr>
            <a:r>
              <a:t>1. 点検業務のデジタル化と履歴保存</a:t>
            </a:r>
          </a:p>
          <a:p>
            <a:pPr>
              <a:spcAft>
                <a:spcPts val="2400"/>
              </a:spcAft>
              <a:defRPr sz="2200" b="1">
                <a:solidFill>
                  <a:srgbClr val="0F172A"/>
                </a:solidFill>
                <a:latin typeface="Noto Sans JP"/>
              </a:defRPr>
            </a:pPr>
            <a:r>
              <a:t>2. レイアウトマップによる視覚管理</a:t>
            </a:r>
          </a:p>
          <a:p>
            <a:pPr>
              <a:spcAft>
                <a:spcPts val="2400"/>
              </a:spcAft>
              <a:defRPr sz="2200" b="1">
                <a:solidFill>
                  <a:srgbClr val="0F172A"/>
                </a:solidFill>
                <a:latin typeface="Noto Sans JP"/>
              </a:defRPr>
            </a:pPr>
            <a:r>
              <a:t>3. リアルタイムの状況共有とタスク管理</a:t>
            </a:r>
          </a:p>
          <a:p>
            <a:pPr>
              <a:spcAft>
                <a:spcPts val="2400"/>
              </a:spcAft>
              <a:defRPr sz="2200" b="1">
                <a:solidFill>
                  <a:srgbClr val="0F172A"/>
                </a:solidFill>
                <a:latin typeface="Noto Sans JP"/>
              </a:defRPr>
            </a:pPr>
            <a:r>
              <a:t>4. AI搭載の修理サポート機能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Noto Sans JP"/>
              </a:defRPr>
            </a:pPr>
            <a:r>
              <a:t>解決策：点検業務のデジタル化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Noto Sans JP"/>
              </a:defRPr>
            </a:pPr>
            <a:r>
              <a:t>モバイル端末でその場入力・ペーパーレス化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01168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0"/>
              </a:spcAft>
              <a:defRPr sz="2200" b="1">
                <a:solidFill>
                  <a:srgbClr val="0F172A"/>
                </a:solidFill>
                <a:latin typeface="Noto Sans JP"/>
              </a:defRPr>
            </a:pPr>
            <a:r>
              <a:t>📱 現場でのモバイル入力</a:t>
            </a:r>
          </a:p>
          <a:p>
            <a:pPr>
              <a:spcAft>
                <a:spcPts val="2000"/>
              </a:spcAft>
              <a:defRPr sz="2200" b="1">
                <a:solidFill>
                  <a:srgbClr val="0F172A"/>
                </a:solidFill>
                <a:latin typeface="Noto Sans JP"/>
              </a:defRPr>
            </a:pPr>
            <a:r>
              <a:t>☁️ 検索可能な履歴の蓄積</a:t>
            </a:r>
          </a:p>
        </p:txBody>
      </p:sp>
      <p:pic>
        <p:nvPicPr>
          <p:cNvPr id="4" name="Picture 3" descr="app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575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Noto Sans JP"/>
              </a:defRPr>
            </a:pPr>
            <a:r>
              <a:t>解決策：検索可能な履歴ログ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Noto Sans JP"/>
              </a:defRPr>
            </a:pPr>
            <a:r>
              <a:t>過去の不具合や修理記録を瞬時に検索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01168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0"/>
              </a:spcAft>
              <a:defRPr sz="2200" b="1">
                <a:solidFill>
                  <a:srgbClr val="0F172A"/>
                </a:solidFill>
                <a:latin typeface="Noto Sans JP"/>
              </a:defRPr>
            </a:pPr>
            <a:r>
              <a:t>🔍 即座のキーワード検索</a:t>
            </a:r>
          </a:p>
          <a:p>
            <a:pPr>
              <a:spcAft>
                <a:spcPts val="2000"/>
              </a:spcAft>
              <a:defRPr sz="2200" b="1">
                <a:solidFill>
                  <a:srgbClr val="0F172A"/>
                </a:solidFill>
                <a:latin typeface="Noto Sans JP"/>
              </a:defRPr>
            </a:pPr>
            <a:r>
              <a:t>📊 再発トラブルの把握</a:t>
            </a:r>
          </a:p>
        </p:txBody>
      </p:sp>
      <p:pic>
        <p:nvPicPr>
          <p:cNvPr id="4" name="Picture 3" descr="app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575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Noto Sans JP"/>
              </a:defRPr>
            </a:pPr>
            <a:r>
              <a:t>解決策：レイアウトマップによる視覚管理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Noto Sans JP"/>
              </a:defRPr>
            </a:pPr>
            <a:r>
              <a:t>平面図上で設備配置と配線ルートを直感的に把握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01168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0"/>
              </a:spcAft>
              <a:defRPr sz="2200" b="1">
                <a:solidFill>
                  <a:srgbClr val="0F172A"/>
                </a:solidFill>
                <a:latin typeface="Noto Sans JP"/>
              </a:defRPr>
            </a:pPr>
            <a:r>
              <a:t>🗺️ インタラクティブマップ</a:t>
            </a:r>
          </a:p>
          <a:p>
            <a:pPr>
              <a:spcAft>
                <a:spcPts val="2000"/>
              </a:spcAft>
              <a:defRPr sz="2200" b="1">
                <a:solidFill>
                  <a:srgbClr val="0F172A"/>
                </a:solidFill>
                <a:latin typeface="Noto Sans JP"/>
              </a:defRPr>
            </a:pPr>
            <a:r>
              <a:t>🔌 配線ルートの可視化</a:t>
            </a:r>
          </a:p>
        </p:txBody>
      </p:sp>
      <p:pic>
        <p:nvPicPr>
          <p:cNvPr id="4" name="Picture 3" descr="app_wir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575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Noto Sans JP"/>
              </a:defRPr>
            </a:pPr>
            <a:r>
              <a:t>解決策：状況共有と管理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Noto Sans JP"/>
              </a:defRPr>
            </a:pPr>
            <a:r>
              <a:t>自動タスク登録とLINE WORKS通知で連絡漏れを防止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01168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0"/>
              </a:spcAft>
              <a:defRPr sz="2200" b="1">
                <a:solidFill>
                  <a:srgbClr val="0F172A"/>
                </a:solidFill>
                <a:latin typeface="Noto Sans JP"/>
              </a:defRPr>
            </a:pPr>
            <a:r>
              <a:t>🔔 自動タスク化＆通知</a:t>
            </a:r>
          </a:p>
          <a:p>
            <a:pPr>
              <a:spcAft>
                <a:spcPts val="2000"/>
              </a:spcAft>
              <a:defRPr sz="2200" b="1">
                <a:solidFill>
                  <a:srgbClr val="0F172A"/>
                </a:solidFill>
                <a:latin typeface="Noto Sans JP"/>
              </a:defRPr>
            </a:pPr>
            <a:r>
              <a:t>🔄 全デバイス同期</a:t>
            </a:r>
          </a:p>
        </p:txBody>
      </p:sp>
      <p:pic>
        <p:nvPicPr>
          <p:cNvPr id="4" name="Picture 3" descr="app_bullet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575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Noto Sans JP"/>
              </a:defRPr>
            </a:pPr>
            <a:r>
              <a:t>解決策：AI修理サポート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Noto Sans JP"/>
              </a:defRPr>
            </a:pPr>
            <a:r>
              <a:t>現場ですぐに頼れるAIアドバイザー機能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01168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0"/>
              </a:spcAft>
              <a:defRPr sz="2200" b="1">
                <a:solidFill>
                  <a:srgbClr val="0F172A"/>
                </a:solidFill>
                <a:latin typeface="Noto Sans JP"/>
              </a:defRPr>
            </a:pPr>
            <a:r>
              <a:t>🤖 普段の言葉で質問応答</a:t>
            </a:r>
          </a:p>
          <a:p>
            <a:pPr>
              <a:spcAft>
                <a:spcPts val="2000"/>
              </a:spcAft>
              <a:defRPr sz="2200" b="1">
                <a:solidFill>
                  <a:srgbClr val="0F172A"/>
                </a:solidFill>
                <a:latin typeface="Noto Sans JP"/>
              </a:defRPr>
            </a:pPr>
            <a:r>
              <a:t>📄 明確な引用元ページ提示</a:t>
            </a:r>
          </a:p>
        </p:txBody>
      </p:sp>
      <p:pic>
        <p:nvPicPr>
          <p:cNvPr id="4" name="Picture 3" descr="app_manu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575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Noto Sans JP"/>
              </a:defRPr>
            </a:pPr>
            <a:r>
              <a:t>成果と今後の展望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Noto Sans JP"/>
              </a:defRPr>
            </a:pPr>
            <a:r>
              <a:t>さらなる現場改善に向けた3つのステップ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1828800"/>
            <a:ext cx="76196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2200" b="1">
                <a:solidFill>
                  <a:srgbClr val="0F172A"/>
                </a:solidFill>
                <a:latin typeface="Noto Sans JP"/>
              </a:defRPr>
            </a:pPr>
            <a:r>
              <a:t>1. データ主導の予防保全</a:t>
            </a:r>
          </a:p>
          <a:p>
            <a:pPr>
              <a:spcAft>
                <a:spcPts val="2400"/>
              </a:spcAft>
              <a:defRPr sz="2200" b="1">
                <a:solidFill>
                  <a:srgbClr val="0F172A"/>
                </a:solidFill>
                <a:latin typeface="Noto Sans JP"/>
              </a:defRPr>
            </a:pPr>
            <a:r>
              <a:t>2. AI対応マニュアルの拡大</a:t>
            </a:r>
          </a:p>
          <a:p>
            <a:pPr>
              <a:spcAft>
                <a:spcPts val="2400"/>
              </a:spcAft>
              <a:defRPr sz="2200" b="1">
                <a:solidFill>
                  <a:srgbClr val="0F172A"/>
                </a:solidFill>
                <a:latin typeface="Noto Sans JP"/>
              </a:defRPr>
            </a:pPr>
            <a:r>
              <a:t>3. 使うほど賢くなるAI学習ループ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Noto Sans JP"/>
              </a:defRPr>
            </a:pPr>
            <a:r>
              <a:t>今後の展望：データ主導の保全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Noto Sans JP"/>
              </a:defRPr>
            </a:pPr>
            <a:r>
              <a:t>点検ログの傾向から故障を予測し未然防止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01168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0"/>
              </a:spcAft>
              <a:defRPr sz="2200" b="1">
                <a:solidFill>
                  <a:srgbClr val="0F172A"/>
                </a:solidFill>
                <a:latin typeface="Noto Sans JP"/>
              </a:defRPr>
            </a:pPr>
            <a:r>
              <a:t>⚡ 溶接機ログの予兆検知</a:t>
            </a:r>
          </a:p>
          <a:p>
            <a:pPr>
              <a:spcAft>
                <a:spcPts val="2000"/>
              </a:spcAft>
              <a:defRPr sz="2200" b="1">
                <a:solidFill>
                  <a:srgbClr val="0F172A"/>
                </a:solidFill>
                <a:latin typeface="Noto Sans JP"/>
              </a:defRPr>
            </a:pPr>
            <a:r>
              <a:t>🛠️ 予測交換によるダウンタイムゼロ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 b="1">
                <a:solidFill>
                  <a:srgbClr val="2563EB"/>
                </a:solidFill>
                <a:latin typeface="Noto Sans JP"/>
              </a:defRPr>
            </a:pPr>
            <a:r>
              <a:t>溶接機 状態モニター（過去5ヶ月間）</a:t>
            </a:r>
          </a:p>
          <a:p>
            <a:pPr>
              <a:spcAft>
                <a:spcPts val="2000"/>
              </a:spcAft>
              <a:defRPr sz="2200" b="1">
                <a:solidFill>
                  <a:srgbClr val="0F172A"/>
                </a:solidFill>
                <a:latin typeface="Noto Sans JP"/>
              </a:defRPr>
            </a:pPr>
            <a:r>
              <a:t>🔴 ワイヤ送給のもたつき: 3回検出 [警告基準: 2回以上]</a:t>
            </a:r>
          </a:p>
          <a:p>
            <a:pPr>
              <a:spcAft>
                <a:spcPts val="2000"/>
              </a:spcAft>
              <a:defRPr sz="2200" b="1">
                <a:solidFill>
                  <a:srgbClr val="0F172A"/>
                </a:solidFill>
                <a:latin typeface="Noto Sans JP"/>
              </a:defRPr>
            </a:pPr>
            <a:r>
              <a:t>🟡 ワイヤの滑り: 2回検出 [注意基準: 1回以上]</a:t>
            </a:r>
          </a:p>
          <a:p>
            <a:pPr>
              <a:spcAft>
                <a:spcPts val="2000"/>
              </a:spcAft>
              <a:defRPr sz="2200" b="1">
                <a:solidFill>
                  <a:srgbClr val="0F172A"/>
                </a:solidFill>
                <a:latin typeface="Noto Sans JP"/>
              </a:defRPr>
            </a:pPr>
            <a:r>
              <a:t>🔧 推奨アクション: 点検記録より「もたつき」「滑り」の再発傾向を検知。金属粉による詰まりを防ぐため、次回段取り替え時にコンジットライナー交換を推奨します。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Noto Sans JP"/>
              </a:defRPr>
            </a:pPr>
            <a:r>
              <a:t>今後の展望：AI機能の高度化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Noto Sans JP"/>
              </a:defRPr>
            </a:pPr>
            <a:r>
              <a:t>全設備のカバーとAI自律学習の確立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011680"/>
            <a:ext cx="5212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  <a:latin typeface="Noto Sans JP"/>
              </a:defRPr>
            </a:pPr>
            <a:r>
              <a:t>📚 AI対応マニュアルの拡大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2011680"/>
            <a:ext cx="5212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59669"/>
                </a:solidFill>
                <a:latin typeface="Noto Sans JP"/>
              </a:defRPr>
            </a:pPr>
            <a:r>
              <a:t>🔄 使うほど賢くなるAI学習ループ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14800"/>
            <a:ext cx="108200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0F172A"/>
                </a:solidFill>
                <a:latin typeface="Noto Sans JP"/>
              </a:defRPr>
            </a:pPr>
            <a:r>
              <a:t>💡 まとめ</a:t>
            </a:r>
          </a:p>
          <a:p>
            <a:pPr>
              <a:spcAft>
                <a:spcPts val="2000"/>
              </a:spcAft>
              <a:defRPr sz="2200" b="1">
                <a:solidFill>
                  <a:srgbClr val="0F172A"/>
                </a:solidFill>
                <a:latin typeface="Noto Sans JP"/>
              </a:defRPr>
            </a:pPr>
            <a:r>
              <a:t>Seibi: 製造現場のダウンタイムをゼロにし、組織の保全力と稼働率を最大化するソリューション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5200" b="1">
                <a:solidFill>
                  <a:srgbClr val="059669"/>
                </a:solidFill>
                <a:latin typeface="Noto Sans JP"/>
              </a:defRPr>
            </a:pPr>
            <a:r>
              <a:t>ご清聴ありがとうございました</a:t>
            </a:r>
          </a:p>
          <a:p>
            <a:pPr>
              <a:defRPr sz="2400">
                <a:solidFill>
                  <a:srgbClr val="475569"/>
                </a:solidFill>
                <a:latin typeface="Noto Sans JP"/>
              </a:defRPr>
            </a:pPr>
            <a:r>
              <a:t>設備管理システム — Seibi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